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arkinsans SemiBold" panose="020B0604020202020204" charset="0"/>
      <p:regular r:id="rId13"/>
    </p:embeddedFont>
    <p:embeddedFont>
      <p:font typeface="Reddit Sans" panose="020B0604020202020204" charset="0"/>
      <p:regular r:id="rId14"/>
    </p:embeddedFont>
    <p:embeddedFont>
      <p:font typeface="Reddit Sans Bold" panose="020B0604020202020204" charset="0"/>
      <p:regular r:id="rId15"/>
    </p:embeddedFont>
    <p:embeddedFont>
      <p:font typeface="Reddit Sans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20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166" y="1385380"/>
            <a:ext cx="5229094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Customer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shopping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behavior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5166" y="3666728"/>
            <a:ext cx="522909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What 3,900 purchases reveal about revenue, loyalty, subscriptions, and the next commercial moves.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5166" y="5009753"/>
            <a:ext cx="1725569" cy="31651"/>
          </a:xfrm>
          <a:prstGeom prst="roundRect">
            <a:avLst>
              <a:gd name="adj" fmla="val 49998"/>
            </a:avLst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2684" y="490347"/>
            <a:ext cx="6959426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The dataset is broad enough to connect behavior to action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684" y="1541224"/>
            <a:ext cx="419090" cy="419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51319" y="1552377"/>
            <a:ext cx="633079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3,900 purchases</a:t>
            </a:r>
            <a:endParaRPr lang="en-US" sz="2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684" y="2315924"/>
            <a:ext cx="419090" cy="419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51319" y="2327077"/>
            <a:ext cx="633079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18 fields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5251319" y="2782927"/>
            <a:ext cx="6330792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Demographics, products, promotions, reviews, frequency, shipping and etc.</a:t>
            </a:r>
            <a:endParaRPr lang="en-US" sz="16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684" y="3847465"/>
            <a:ext cx="419090" cy="4191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51319" y="3858617"/>
            <a:ext cx="633079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One cleanup gap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5251319" y="4314468"/>
            <a:ext cx="6330792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37 missing review ratings, imputed with the median.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4622684" y="4812030"/>
            <a:ext cx="756901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Cleaned in Excell, loaded for SQL analysis, and visualized in Power BI.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622684" y="5232698"/>
            <a:ext cx="8266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622684" y="5539085"/>
            <a:ext cx="209118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Clean Data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171054" y="5232698"/>
            <a:ext cx="8663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171054" y="5539085"/>
            <a:ext cx="18625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Analyze Transactions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490830" y="5232698"/>
            <a:ext cx="865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490830" y="5539085"/>
            <a:ext cx="20912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Activate Insights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4622684" y="2081014"/>
            <a:ext cx="69594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0" name="Shape 14"/>
          <p:cNvSpPr/>
          <p:nvPr/>
        </p:nvSpPr>
        <p:spPr>
          <a:xfrm>
            <a:off x="4622684" y="3612555"/>
            <a:ext cx="69594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1" name="Shape 15"/>
          <p:cNvSpPr/>
          <p:nvPr/>
        </p:nvSpPr>
        <p:spPr>
          <a:xfrm>
            <a:off x="6936110" y="5232698"/>
            <a:ext cx="12700" cy="930275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2" name="Shape 16"/>
          <p:cNvSpPr/>
          <p:nvPr/>
        </p:nvSpPr>
        <p:spPr>
          <a:xfrm>
            <a:off x="9255886" y="5232698"/>
            <a:ext cx="12700" cy="930275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Revenue is concentrated in male customers and the middle-aged segment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693902"/>
            <a:ext cx="1158211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Gender and age point to two distinct targeting signals.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84797"/>
            <a:ext cx="10413739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7477" y="327738"/>
            <a:ext cx="6705432" cy="6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kern="100" spc="-30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Loyal customers already anchor the business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27477" y="1126034"/>
            <a:ext cx="6705432" cy="87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Loyal: 3,116 customers</a:t>
            </a:r>
            <a:endParaRPr lang="en-US" sz="1300" dirty="0"/>
          </a:p>
          <a:p>
            <a:pPr marL="0" indent="0" algn="l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Returning: 701 customers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New: 83 customers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194" y="2119313"/>
            <a:ext cx="5291997" cy="389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30558" y="4468179"/>
            <a:ext cx="1709307" cy="13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100" spc="-11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Idea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904463" y="3441511"/>
            <a:ext cx="1312409" cy="13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100" spc="-11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Research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444426" y="4452303"/>
            <a:ext cx="1185402" cy="13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100" spc="-11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Design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015595" y="5140276"/>
            <a:ext cx="1116605" cy="13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100" spc="-11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Build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666142" y="2774706"/>
            <a:ext cx="973723" cy="13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100" spc="-11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Launch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927477" y="6128643"/>
            <a:ext cx="6705432" cy="733822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12" name="Text 8"/>
          <p:cNvSpPr/>
          <p:nvPr/>
        </p:nvSpPr>
        <p:spPr>
          <a:xfrm>
            <a:off x="5130672" y="6289323"/>
            <a:ext cx="6299042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growth question is less about finding loyalty from scratch and more about protecting, rewarding, and extending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78688"/>
            <a:ext cx="6553036" cy="52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kern="100" spc="-23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Subscription is an opportunity, not yet a spend advantage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11182" y="1164431"/>
            <a:ext cx="6553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Average spend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1409285"/>
            <a:ext cx="6553036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59.49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subscribers · </a:t>
            </a: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59.87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non-subscribers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1182" y="2011561"/>
            <a:ext cx="6553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82" y="2256415"/>
            <a:ext cx="6553036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62,645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subscribers · </a:t>
            </a: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170,436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non-subscribers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1182" y="2858691"/>
            <a:ext cx="6553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Customer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182" y="3103545"/>
            <a:ext cx="6553036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1,053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subscribers · </a:t>
            </a: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2,847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non-subscribers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1182" y="3427097"/>
            <a:ext cx="7010225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00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Recommendation:</a:t>
            </a:r>
            <a:r>
              <a:rPr lang="en-US" sz="1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make the membership promise more compelling before pushing harder on enrollment.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596046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1182" y="1771848"/>
            <a:ext cx="655303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6" name="Shape 12"/>
          <p:cNvSpPr/>
          <p:nvPr/>
        </p:nvSpPr>
        <p:spPr>
          <a:xfrm>
            <a:off x="711182" y="2618978"/>
            <a:ext cx="6553036" cy="12700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Repeat buying is widespread, but subscription conversion lags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805869"/>
            <a:ext cx="5257668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958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09585" y="2661087"/>
            <a:ext cx="5486263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Repeat buyers among subscribers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324442" y="1805869"/>
            <a:ext cx="5257668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2,518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324442" y="2661087"/>
            <a:ext cx="5257668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Repeat buyers among non-subscribers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09585" y="3269456"/>
            <a:ext cx="10972526" cy="761008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8" name="Text 6"/>
          <p:cNvSpPr/>
          <p:nvPr/>
        </p:nvSpPr>
        <p:spPr>
          <a:xfrm>
            <a:off x="888978" y="3498294"/>
            <a:ext cx="10693132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Practical test:</a:t>
            </a: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use loyalty moments and repeat-purchase triggers to introduce exclusive subscription benefits.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089498" y="1741289"/>
            <a:ext cx="12700" cy="1223367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7093" cy="6871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5879" y="261747"/>
            <a:ext cx="6654634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Discounts can lift conversion without guaranteeing value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879" y="1293614"/>
            <a:ext cx="6654634" cy="24090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11714" y="1651858"/>
            <a:ext cx="4105841" cy="22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-17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Discount signal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311714" y="2383874"/>
            <a:ext cx="4105841" cy="22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-17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Margin check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311714" y="3109236"/>
            <a:ext cx="4105841" cy="22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-17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Campaign action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825879" y="3829883"/>
            <a:ext cx="6654634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Identify customers who used discounts yet still spent above the average purchase amount.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25879" y="4894699"/>
            <a:ext cx="665463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Flag the five products with the highest share of discounted purchases.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825879" y="5655707"/>
            <a:ext cx="6654634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Review discount depth and product dependence together to protect margin.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825879" y="6415723"/>
            <a:ext cx="7264218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Use discounts as a targeted lever, not a default growth strategy.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4825879" y="4659511"/>
            <a:ext cx="6654634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3" name="Shape 9"/>
          <p:cNvSpPr/>
          <p:nvPr/>
        </p:nvSpPr>
        <p:spPr>
          <a:xfrm>
            <a:off x="4825879" y="5420519"/>
            <a:ext cx="6654634" cy="12700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1947"/>
            <a:ext cx="6603835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Express shipping is a small but actionable value signal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182" y="1643102"/>
            <a:ext cx="7010225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modest difference gives the team a focused test.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11182" y="2412571"/>
            <a:ext cx="1972618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60.48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1182" y="3150334"/>
            <a:ext cx="1972618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Express average purchase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140989" y="2412571"/>
            <a:ext cx="1744123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58.46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140989" y="3150334"/>
            <a:ext cx="1744123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Standard average purchase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13706" y="2133997"/>
            <a:ext cx="2201212" cy="1852315"/>
          </a:xfrm>
          <a:custGeom>
            <a:avLst/>
            <a:gdLst/>
            <a:ahLst/>
            <a:cxnLst/>
            <a:rect l="l" t="t" r="r" b="b"/>
            <a:pathLst>
              <a:path w="2201212" h="1852315">
                <a:moveTo>
                  <a:pt x="0" y="0"/>
                </a:moveTo>
                <a:lnTo>
                  <a:pt x="2044054" y="0"/>
                </a:lnTo>
                <a:arcTo wR="157159" hR="157163" stAng="16200000" swAng="5400000"/>
                <a:lnTo>
                  <a:pt x="2201212" y="1695152"/>
                </a:lnTo>
                <a:arcTo wR="157159" hR="157163" stAng="0" swAng="5400000"/>
                <a:lnTo>
                  <a:pt x="0" y="1852315"/>
                </a:lnTo>
                <a:lnTo>
                  <a:pt x="0" y="0"/>
                </a:lnTo>
                <a:close/>
              </a:path>
            </a:pathLst>
          </a:custGeom>
          <a:solidFill>
            <a:srgbClr val="FFE6C6"/>
          </a:solidFill>
          <a:ln/>
        </p:spPr>
      </p:sp>
      <p:sp>
        <p:nvSpPr>
          <p:cNvPr id="9" name="Text 7"/>
          <p:cNvSpPr/>
          <p:nvPr/>
        </p:nvSpPr>
        <p:spPr>
          <a:xfrm>
            <a:off x="5342300" y="2412571"/>
            <a:ext cx="1744024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000000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2.02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342300" y="3150334"/>
            <a:ext cx="1744024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Difference in favor of Express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1182" y="4215150"/>
            <a:ext cx="6603835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Recommendation: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test whether speed, urgency, or convenience messaging can raise basket value.</a:t>
            </a:r>
            <a:endParaRPr lang="en-US" sz="16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906044" y="2133997"/>
            <a:ext cx="12700" cy="1852315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4" name="Shape 11"/>
          <p:cNvSpPr/>
          <p:nvPr/>
        </p:nvSpPr>
        <p:spPr>
          <a:xfrm>
            <a:off x="5107356" y="2133997"/>
            <a:ext cx="12700" cy="1852315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Product and review signals can sharpen campaigns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277045"/>
            <a:ext cx="523862" cy="523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1932682"/>
            <a:ext cx="342891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Use top-rated products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585" y="2388533"/>
            <a:ext cx="3428914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Make them proof points in merchandising and campaign creative.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1277045"/>
            <a:ext cx="523862" cy="523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95688" y="1932682"/>
            <a:ext cx="32003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Improve category storytelling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495688" y="2706033"/>
            <a:ext cx="3200320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 the top three products in each category to improve navigation and category storytelling.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1277045"/>
            <a:ext cx="523862" cy="523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3196" y="1932682"/>
            <a:ext cx="342891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Pair product and audience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153196" y="2388533"/>
            <a:ext cx="3428914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Position products with the age and loyalty segments most likely to respond.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4260743" y="1277045"/>
            <a:ext cx="12700" cy="2643981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3" name="Shape 8"/>
          <p:cNvSpPr/>
          <p:nvPr/>
        </p:nvSpPr>
        <p:spPr>
          <a:xfrm>
            <a:off x="7918252" y="1277045"/>
            <a:ext cx="12700" cy="2643981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4" y="591947"/>
            <a:ext cx="645143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Three moves turn the analysis into action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074" y="1623814"/>
            <a:ext cx="6451439" cy="23355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0031" y="1971125"/>
            <a:ext cx="3980535" cy="21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100" spc="-16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500031" y="2680801"/>
            <a:ext cx="3980535" cy="21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100" spc="-16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Reward Loyalty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500031" y="3384024"/>
            <a:ext cx="3980535" cy="215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100" spc="-16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Target Precisely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029074" y="4137124"/>
            <a:ext cx="6451439" cy="963216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9" name="Text 5"/>
          <p:cNvSpPr/>
          <p:nvPr/>
        </p:nvSpPr>
        <p:spPr>
          <a:xfrm>
            <a:off x="5257668" y="4315162"/>
            <a:ext cx="5994250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Decision lens:</a:t>
            </a: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protect the loyal base, test the membership promise, and focus campaigns where the evidence is strongest.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440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Parkinsans SemiBold</vt:lpstr>
      <vt:lpstr>Arial</vt:lpstr>
      <vt:lpstr>Reddit Sans SemiBold</vt:lpstr>
      <vt:lpstr>Reddit Sans</vt:lpstr>
      <vt:lpstr>Reddit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intel</cp:lastModifiedBy>
  <cp:revision>4</cp:revision>
  <dcterms:created xsi:type="dcterms:W3CDTF">2026-10-16T12:06:59Z</dcterms:created>
  <dcterms:modified xsi:type="dcterms:W3CDTF">2026-10-18T10:49:39Z</dcterms:modified>
</cp:coreProperties>
</file>